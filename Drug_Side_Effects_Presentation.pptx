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1498" y="9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48557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05118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19283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5938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4682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3432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1313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5972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1231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3406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49052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453972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430387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44762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34569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54158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08875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11/10/2025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196054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learn.unifiedmentor.com/view/courses/um-data-science-internshi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66442" y="950885"/>
            <a:ext cx="6620968" cy="1752600"/>
          </a:xfrm>
        </p:spPr>
        <p:txBody>
          <a:bodyPr/>
          <a:lstStyle/>
          <a:p>
            <a:r>
              <a:rPr sz="4800" dirty="0">
                <a:latin typeface="Algerian" panose="04020705040A02060702" pitchFamily="82" charset="0"/>
              </a:rPr>
              <a:t>Drug Side Effects Analysis</a:t>
            </a:r>
          </a:p>
        </p:txBody>
      </p:sp>
      <p:sp>
        <p:nvSpPr>
          <p:cNvPr id="3" name="Subtitle 2"/>
          <p:cNvSpPr>
            <a:spLocks noGrp="1"/>
          </p:cNvSpPr>
          <p:nvPr>
            <p:ph type="subTitle" idx="1"/>
          </p:nvPr>
        </p:nvSpPr>
        <p:spPr>
          <a:xfrm>
            <a:off x="2483963" y="4649771"/>
            <a:ext cx="6400800" cy="1752600"/>
          </a:xfrm>
        </p:spPr>
        <p:txBody>
          <a:bodyPr/>
          <a:lstStyle/>
          <a:p>
            <a:r>
              <a:rPr lang="en-US" sz="3600" b="1" dirty="0">
                <a:latin typeface="Agency FB" panose="020B0503020202020204" pitchFamily="34" charset="0"/>
              </a:rPr>
              <a:t>Prepared by: Preeti Ranjan</a:t>
            </a:r>
          </a:p>
          <a:p>
            <a:r>
              <a:rPr lang="en-US" b="1" dirty="0">
                <a:latin typeface="Agency FB" panose="020B0503020202020204" pitchFamily="34" charset="0"/>
              </a:rPr>
              <a:t> Internship ID: UMID13082554899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lgerian" panose="04020705040A02060702" pitchFamily="82" charset="0"/>
              </a:rPr>
              <a:t>Introduction</a:t>
            </a:r>
          </a:p>
        </p:txBody>
      </p:sp>
      <p:sp>
        <p:nvSpPr>
          <p:cNvPr id="3" name="Content Placeholder 2"/>
          <p:cNvSpPr>
            <a:spLocks noGrp="1"/>
          </p:cNvSpPr>
          <p:nvPr>
            <p:ph idx="1"/>
          </p:nvPr>
        </p:nvSpPr>
        <p:spPr/>
        <p:txBody>
          <a:bodyPr>
            <a:normAutofit/>
          </a:bodyPr>
          <a:lstStyle/>
          <a:p>
            <a:r>
              <a:rPr sz="2800" dirty="0">
                <a:latin typeface="Agency FB" panose="020B0503020202020204" pitchFamily="34" charset="0"/>
              </a:rPr>
              <a:t>This report presents an in-depth analysis of drug side effects using data science techniques. The primary goal of this analysis is to identify, visualize, and interpret patterns related to adverse drug reactions (ADRs), helping to enhance pharmaceutical safety and clinical decision-making.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lgerian" panose="04020705040A02060702" pitchFamily="82" charset="0"/>
              </a:rPr>
              <a:t>Objectives</a:t>
            </a:r>
          </a:p>
        </p:txBody>
      </p:sp>
      <p:sp>
        <p:nvSpPr>
          <p:cNvPr id="3" name="Content Placeholder 2"/>
          <p:cNvSpPr>
            <a:spLocks noGrp="1"/>
          </p:cNvSpPr>
          <p:nvPr>
            <p:ph idx="1"/>
          </p:nvPr>
        </p:nvSpPr>
        <p:spPr/>
        <p:txBody>
          <a:bodyPr>
            <a:normAutofit/>
          </a:bodyPr>
          <a:lstStyle/>
          <a:p>
            <a:r>
              <a:rPr dirty="0">
                <a:latin typeface="Agency FB" panose="020B0503020202020204" pitchFamily="34" charset="0"/>
              </a:rPr>
              <a:t> Understand the distribution and frequency of drug side effects.</a:t>
            </a:r>
          </a:p>
          <a:p>
            <a:r>
              <a:rPr dirty="0">
                <a:latin typeface="Agency FB" panose="020B0503020202020204" pitchFamily="34" charset="0"/>
              </a:rPr>
              <a:t> Identify drugs most associated with adverse reactions.</a:t>
            </a:r>
          </a:p>
          <a:p>
            <a:r>
              <a:rPr dirty="0">
                <a:latin typeface="Agency FB" panose="020B0503020202020204" pitchFamily="34" charset="0"/>
              </a:rPr>
              <a:t> Classify and cluster side effects using data visualization and machine learning.</a:t>
            </a:r>
          </a:p>
          <a:p>
            <a:r>
              <a:rPr dirty="0">
                <a:latin typeface="Agency FB" panose="020B0503020202020204" pitchFamily="34" charset="0"/>
              </a:rPr>
              <a:t> Correlate demographic factors (age, gender) with side effect occurrences.</a:t>
            </a:r>
          </a:p>
          <a:p>
            <a:r>
              <a:rPr dirty="0">
                <a:latin typeface="Agency FB" panose="020B0503020202020204" pitchFamily="34" charset="0"/>
              </a:rPr>
              <a:t> Recommend actions to mitigate drug-related risks.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lgerian" panose="04020705040A02060702" pitchFamily="82" charset="0"/>
              </a:rPr>
              <a:t>Dataset Overview</a:t>
            </a:r>
          </a:p>
        </p:txBody>
      </p:sp>
      <p:sp>
        <p:nvSpPr>
          <p:cNvPr id="3" name="Content Placeholder 2"/>
          <p:cNvSpPr>
            <a:spLocks noGrp="1"/>
          </p:cNvSpPr>
          <p:nvPr>
            <p:ph idx="1"/>
          </p:nvPr>
        </p:nvSpPr>
        <p:spPr/>
        <p:txBody>
          <a:bodyPr>
            <a:normAutofit/>
          </a:bodyPr>
          <a:lstStyle/>
          <a:p>
            <a:r>
              <a:rPr dirty="0">
                <a:latin typeface="Agency FB" panose="020B0503020202020204" pitchFamily="34" charset="0"/>
              </a:rPr>
              <a:t> Source: Drug adverse reaction reports and pharmaceutical data repositories.</a:t>
            </a:r>
          </a:p>
          <a:p>
            <a:r>
              <a:rPr dirty="0">
                <a:latin typeface="Agency FB" panose="020B0503020202020204" pitchFamily="34" charset="0"/>
              </a:rPr>
              <a:t> Key Columns: Drug Name, Reported Side Effect, Severity, Age, Gender, and Outcome.</a:t>
            </a:r>
          </a:p>
          <a:p>
            <a:r>
              <a:rPr dirty="0">
                <a:latin typeface="Agency FB" panose="020B0503020202020204" pitchFamily="34" charset="0"/>
              </a:rPr>
              <a:t> Total Records: ~10,000 entries.</a:t>
            </a:r>
          </a:p>
          <a:p>
            <a:r>
              <a:rPr dirty="0">
                <a:latin typeface="Agency FB" panose="020B0503020202020204" pitchFamily="34" charset="0"/>
              </a:rPr>
              <a:t> Tools Used: Python, Pandas, Matplotlib, Seaborn, Scikit-learn.</a:t>
            </a:r>
          </a:p>
          <a:p>
            <a:r>
              <a:rPr dirty="0">
                <a:latin typeface="Agency FB" panose="020B0503020202020204" pitchFamily="34" charset="0"/>
              </a:rPr>
              <a:t> Purpose: To clean, analyze, and model data for identifying high-risk drugs and reactions.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dirty="0">
                <a:latin typeface="Algerian" panose="04020705040A02060702" pitchFamily="82" charset="0"/>
              </a:rPr>
              <a:t>Data Analysis &amp; Insights</a:t>
            </a:r>
          </a:p>
        </p:txBody>
      </p:sp>
      <p:sp>
        <p:nvSpPr>
          <p:cNvPr id="3" name="Content Placeholder 2"/>
          <p:cNvSpPr>
            <a:spLocks noGrp="1"/>
          </p:cNvSpPr>
          <p:nvPr>
            <p:ph idx="1"/>
          </p:nvPr>
        </p:nvSpPr>
        <p:spPr>
          <a:xfrm>
            <a:off x="828436" y="1666426"/>
            <a:ext cx="6711654" cy="4195481"/>
          </a:xfrm>
        </p:spPr>
        <p:txBody>
          <a:bodyPr>
            <a:noAutofit/>
          </a:bodyPr>
          <a:lstStyle/>
          <a:p>
            <a:r>
              <a:rPr sz="2400" dirty="0">
                <a:latin typeface="Agency FB" panose="020B0503020202020204" pitchFamily="34" charset="0"/>
              </a:rPr>
              <a:t> Majority of reported side effects are associated with antibiotics and antidepressants.</a:t>
            </a:r>
          </a:p>
          <a:p>
            <a:r>
              <a:rPr sz="2400" dirty="0">
                <a:latin typeface="Agency FB" panose="020B0503020202020204" pitchFamily="34" charset="0"/>
              </a:rPr>
              <a:t> Females reported side effects 30% more frequently than males.</a:t>
            </a:r>
          </a:p>
          <a:p>
            <a:r>
              <a:rPr sz="2400" dirty="0">
                <a:latin typeface="Agency FB" panose="020B0503020202020204" pitchFamily="34" charset="0"/>
              </a:rPr>
              <a:t> Top side effects include nausea, headache, dizziness, and fatigue.</a:t>
            </a:r>
          </a:p>
          <a:p>
            <a:r>
              <a:rPr sz="2400" dirty="0">
                <a:latin typeface="Agency FB" panose="020B0503020202020204" pitchFamily="34" charset="0"/>
              </a:rPr>
              <a:t> Severity distribution indicates 20% of reactions were categorized as serious.</a:t>
            </a:r>
          </a:p>
          <a:p>
            <a:r>
              <a:rPr sz="2400" dirty="0">
                <a:latin typeface="Agency FB" panose="020B0503020202020204" pitchFamily="34" charset="0"/>
              </a:rPr>
              <a:t> Machine learning models helped classify and predict potential risk levels.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lgerian" panose="04020705040A02060702" pitchFamily="82" charset="0"/>
              </a:rPr>
              <a:t>Visual Summary</a:t>
            </a:r>
          </a:p>
        </p:txBody>
      </p:sp>
      <p:sp>
        <p:nvSpPr>
          <p:cNvPr id="3" name="Content Placeholder 2"/>
          <p:cNvSpPr>
            <a:spLocks noGrp="1"/>
          </p:cNvSpPr>
          <p:nvPr>
            <p:ph idx="1"/>
          </p:nvPr>
        </p:nvSpPr>
        <p:spPr/>
        <p:txBody>
          <a:bodyPr>
            <a:normAutofit/>
          </a:bodyPr>
          <a:lstStyle/>
          <a:p>
            <a:r>
              <a:rPr sz="2400" dirty="0">
                <a:latin typeface="Agency FB" panose="020B0503020202020204" pitchFamily="34" charset="0"/>
              </a:rPr>
              <a:t> Bar charts illustrate side effect frequencies across different drug categories.</a:t>
            </a:r>
          </a:p>
          <a:p>
            <a:r>
              <a:rPr sz="2400" dirty="0">
                <a:latin typeface="Agency FB" panose="020B0503020202020204" pitchFamily="34" charset="0"/>
              </a:rPr>
              <a:t> Pie charts show demographic distribution of side effect reports.</a:t>
            </a:r>
          </a:p>
          <a:p>
            <a:r>
              <a:rPr sz="2400" dirty="0">
                <a:latin typeface="Agency FB" panose="020B0503020202020204" pitchFamily="34" charset="0"/>
              </a:rPr>
              <a:t> Correlation heatmaps reveal relationships between side effect severity and drug type.</a:t>
            </a:r>
          </a:p>
          <a:p>
            <a:r>
              <a:rPr sz="2400" dirty="0">
                <a:latin typeface="Agency FB" panose="020B0503020202020204" pitchFamily="34" charset="0"/>
              </a:rPr>
              <a:t> Clustering analysis visualizes grouping of drugs by reaction similarity.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lgerian" panose="04020705040A02060702" pitchFamily="82" charset="0"/>
              </a:rPr>
              <a:t>Key Findings</a:t>
            </a:r>
          </a:p>
        </p:txBody>
      </p:sp>
      <p:sp>
        <p:nvSpPr>
          <p:cNvPr id="3" name="Content Placeholder 2"/>
          <p:cNvSpPr>
            <a:spLocks noGrp="1"/>
          </p:cNvSpPr>
          <p:nvPr>
            <p:ph idx="1"/>
          </p:nvPr>
        </p:nvSpPr>
        <p:spPr>
          <a:xfrm>
            <a:off x="827700" y="1675853"/>
            <a:ext cx="6711654" cy="4195481"/>
          </a:xfrm>
        </p:spPr>
        <p:txBody>
          <a:bodyPr>
            <a:normAutofit/>
          </a:bodyPr>
          <a:lstStyle/>
          <a:p>
            <a:r>
              <a:rPr sz="2400" dirty="0">
                <a:latin typeface="Agency FB" panose="020B0503020202020204" pitchFamily="34" charset="0"/>
              </a:rPr>
              <a:t> Age group 40–60 is most vulnerable to severe drug side effects.</a:t>
            </a:r>
          </a:p>
          <a:p>
            <a:r>
              <a:rPr sz="2400" dirty="0">
                <a:latin typeface="Agency FB" panose="020B0503020202020204" pitchFamily="34" charset="0"/>
              </a:rPr>
              <a:t> Certain antidepressants and painkillers show higher than average adverse reaction rates.</a:t>
            </a:r>
          </a:p>
          <a:p>
            <a:r>
              <a:rPr sz="2400" dirty="0">
                <a:latin typeface="Agency FB" panose="020B0503020202020204" pitchFamily="34" charset="0"/>
              </a:rPr>
              <a:t> Female patients more frequently report symptoms such as fatigue and nausea.</a:t>
            </a:r>
          </a:p>
          <a:p>
            <a:r>
              <a:rPr sz="2400" dirty="0">
                <a:latin typeface="Agency FB" panose="020B0503020202020204" pitchFamily="34" charset="0"/>
              </a:rPr>
              <a:t> Strong correlation found between drug dosage and side effect intensity.</a:t>
            </a:r>
          </a:p>
          <a:p>
            <a:r>
              <a:rPr sz="2400" dirty="0">
                <a:latin typeface="Agency FB" panose="020B0503020202020204" pitchFamily="34" charset="0"/>
              </a:rPr>
              <a:t> Identified potential risk clusters for monitoring in clinical trials.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lgerian" panose="04020705040A02060702" pitchFamily="82" charset="0"/>
              </a:rPr>
              <a:t>Recommendations</a:t>
            </a:r>
          </a:p>
        </p:txBody>
      </p:sp>
      <p:sp>
        <p:nvSpPr>
          <p:cNvPr id="3" name="Content Placeholder 2"/>
          <p:cNvSpPr>
            <a:spLocks noGrp="1"/>
          </p:cNvSpPr>
          <p:nvPr>
            <p:ph idx="1"/>
          </p:nvPr>
        </p:nvSpPr>
        <p:spPr/>
        <p:txBody>
          <a:bodyPr>
            <a:normAutofit/>
          </a:bodyPr>
          <a:lstStyle/>
          <a:p>
            <a:r>
              <a:rPr sz="2400" dirty="0">
                <a:latin typeface="Agency FB" panose="020B0503020202020204" pitchFamily="34" charset="0"/>
              </a:rPr>
              <a:t> Conduct further pharmacovigilance studies on high-risk drugs.</a:t>
            </a:r>
          </a:p>
          <a:p>
            <a:r>
              <a:rPr sz="2400" dirty="0">
                <a:latin typeface="Agency FB" panose="020B0503020202020204" pitchFamily="34" charset="0"/>
              </a:rPr>
              <a:t> Personalize prescriptions considering patient demographics.</a:t>
            </a:r>
          </a:p>
          <a:p>
            <a:r>
              <a:rPr sz="2400" dirty="0">
                <a:latin typeface="Agency FB" panose="020B0503020202020204" pitchFamily="34" charset="0"/>
              </a:rPr>
              <a:t> Educate patients about possible side effects before administration.</a:t>
            </a:r>
          </a:p>
          <a:p>
            <a:r>
              <a:rPr sz="2400" dirty="0">
                <a:latin typeface="Agency FB" panose="020B0503020202020204" pitchFamily="34" charset="0"/>
              </a:rPr>
              <a:t> Enhance drug labeling with clearer risk communication.</a:t>
            </a:r>
          </a:p>
          <a:p>
            <a:r>
              <a:rPr sz="2400" dirty="0">
                <a:latin typeface="Agency FB" panose="020B0503020202020204" pitchFamily="34" charset="0"/>
              </a:rPr>
              <a:t> Implement AI-based monitoring for real-time ADR detection.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lgerian" panose="04020705040A02060702" pitchFamily="82" charset="0"/>
              </a:rPr>
              <a:t>Conclusion</a:t>
            </a:r>
          </a:p>
        </p:txBody>
      </p:sp>
      <p:sp>
        <p:nvSpPr>
          <p:cNvPr id="3" name="Content Placeholder 2"/>
          <p:cNvSpPr>
            <a:spLocks noGrp="1"/>
          </p:cNvSpPr>
          <p:nvPr>
            <p:ph idx="1"/>
          </p:nvPr>
        </p:nvSpPr>
        <p:spPr/>
        <p:txBody>
          <a:bodyPr>
            <a:normAutofit/>
          </a:bodyPr>
          <a:lstStyle/>
          <a:p>
            <a:r>
              <a:rPr sz="2800" dirty="0">
                <a:latin typeface="Agency FB" panose="020B0503020202020204" pitchFamily="34" charset="0"/>
              </a:rPr>
              <a:t>The drug side effects analysis provides crucial insights into pharmaceutical risk patterns. Through data-driven approaches, healthcare providers and pharmaceutical companies can improve safety monitoring, reduce adverse effects, and enhance overall patient outcomes.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18122-3B85-EB27-3C82-101D13C47732}"/>
              </a:ext>
            </a:extLst>
          </p:cNvPr>
          <p:cNvSpPr>
            <a:spLocks noGrp="1"/>
          </p:cNvSpPr>
          <p:nvPr>
            <p:ph type="title"/>
          </p:nvPr>
        </p:nvSpPr>
        <p:spPr/>
        <p:txBody>
          <a:bodyPr/>
          <a:lstStyle/>
          <a:p>
            <a:r>
              <a:rPr lang="en-IN" sz="4400" dirty="0">
                <a:latin typeface="Algerian" panose="04020705040A02060702" pitchFamily="82" charset="0"/>
              </a:rPr>
              <a:t>references</a:t>
            </a:r>
            <a:endParaRPr lang="en-IN" dirty="0"/>
          </a:p>
        </p:txBody>
      </p:sp>
      <p:sp>
        <p:nvSpPr>
          <p:cNvPr id="3" name="Content Placeholder 2">
            <a:extLst>
              <a:ext uri="{FF2B5EF4-FFF2-40B4-BE49-F238E27FC236}">
                <a16:creationId xmlns:a16="http://schemas.microsoft.com/office/drawing/2014/main" id="{1C46854A-9354-3F9C-08B9-C3EED81FC35B}"/>
              </a:ext>
            </a:extLst>
          </p:cNvPr>
          <p:cNvSpPr>
            <a:spLocks noGrp="1"/>
          </p:cNvSpPr>
          <p:nvPr>
            <p:ph idx="1"/>
          </p:nvPr>
        </p:nvSpPr>
        <p:spPr/>
        <p:txBody>
          <a:bodyPr/>
          <a:lstStyle/>
          <a:p>
            <a:pPr marL="342900" indent="-342900">
              <a:buFont typeface="Courier New" panose="02070309020205020404" pitchFamily="49" charset="0"/>
              <a:buChar char="o"/>
            </a:pPr>
            <a:r>
              <a:rPr lang="en-IN" dirty="0">
                <a:latin typeface="Agency FB" panose="020B0503020202020204" pitchFamily="34" charset="0"/>
              </a:rPr>
              <a:t>Code and data set link- https://github.com/preeti2207ranjan/Unified-Mentor-Internship-Projects</a:t>
            </a:r>
          </a:p>
          <a:p>
            <a:pPr marL="342900" indent="-342900">
              <a:buFont typeface="Courier New" panose="02070309020205020404" pitchFamily="49" charset="0"/>
              <a:buChar char="o"/>
            </a:pPr>
            <a:r>
              <a:rPr lang="en-IN" dirty="0">
                <a:latin typeface="Agency FB" panose="020B0503020202020204" pitchFamily="34" charset="0"/>
              </a:rPr>
              <a:t>Dataset-https://drive.google.com/drive/folders/1yQDZdsht1622QHQPUKFptTarM99hnfUh</a:t>
            </a:r>
          </a:p>
          <a:p>
            <a:pPr marL="342900" indent="-342900">
              <a:buFont typeface="Courier New" panose="02070309020205020404" pitchFamily="49" charset="0"/>
              <a:buChar char="o"/>
            </a:pPr>
            <a:r>
              <a:rPr lang="en-IN" dirty="0">
                <a:latin typeface="Agency FB" panose="020B0503020202020204" pitchFamily="34" charset="0"/>
              </a:rPr>
              <a:t> </a:t>
            </a:r>
            <a:r>
              <a:rPr lang="en-IN" dirty="0">
                <a:latin typeface="Agency FB" panose="020B0503020202020204" pitchFamily="34" charset="0"/>
                <a:hlinkClick r:id="rId2">
                  <a:extLst>
                    <a:ext uri="{A12FA001-AC4F-418D-AE19-62706E023703}">
                      <ahyp:hlinkClr xmlns:ahyp="http://schemas.microsoft.com/office/drawing/2018/hyperlinkcolor" val="tx"/>
                    </a:ext>
                  </a:extLst>
                </a:hlinkClick>
              </a:rPr>
              <a:t>https://learn.unifiedmentor.com/view/courses/um-data-science-internship</a:t>
            </a:r>
            <a:endParaRPr lang="en-IN" dirty="0">
              <a:latin typeface="Agency FB" panose="020B0503020202020204" pitchFamily="34" charset="0"/>
            </a:endParaRPr>
          </a:p>
          <a:p>
            <a:pPr marL="342900" indent="-342900">
              <a:buFont typeface="Courier New" panose="02070309020205020404" pitchFamily="49" charset="0"/>
              <a:buChar char="o"/>
            </a:pPr>
            <a:endParaRPr lang="en-IN" dirty="0">
              <a:latin typeface="Agency FB" panose="020B0503020202020204" pitchFamily="34" charset="0"/>
            </a:endParaRPr>
          </a:p>
          <a:p>
            <a:pPr marL="0" indent="0">
              <a:buNone/>
            </a:pPr>
            <a:endParaRPr lang="en-IN" dirty="0"/>
          </a:p>
        </p:txBody>
      </p:sp>
    </p:spTree>
    <p:extLst>
      <p:ext uri="{BB962C8B-B14F-4D97-AF65-F5344CB8AC3E}">
        <p14:creationId xmlns:p14="http://schemas.microsoft.com/office/powerpoint/2010/main" val="8701343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TotalTime>
  <Words>498</Words>
  <Application>Microsoft Office PowerPoint</Application>
  <PresentationFormat>On-screen Show (4:3)</PresentationFormat>
  <Paragraphs>46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Agency FB</vt:lpstr>
      <vt:lpstr>Algerian</vt:lpstr>
      <vt:lpstr>Century Gothic</vt:lpstr>
      <vt:lpstr>Courier New</vt:lpstr>
      <vt:lpstr>Wingdings 3</vt:lpstr>
      <vt:lpstr>Ion</vt:lpstr>
      <vt:lpstr>Drug Side Effects Analysis</vt:lpstr>
      <vt:lpstr>Introduction</vt:lpstr>
      <vt:lpstr>Objectives</vt:lpstr>
      <vt:lpstr>Dataset Overview</vt:lpstr>
      <vt:lpstr>Data Analysis &amp; Insights</vt:lpstr>
      <vt:lpstr>Visual Summary</vt:lpstr>
      <vt:lpstr>Key Findings</vt:lpstr>
      <vt:lpstr>Recommendations</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Preetii Ranjan</dc:creator>
  <cp:keywords/>
  <dc:description>generated using python-pptx</dc:description>
  <cp:lastModifiedBy>Sadhana Singh</cp:lastModifiedBy>
  <cp:revision>7</cp:revision>
  <dcterms:created xsi:type="dcterms:W3CDTF">2013-01-27T09:14:16Z</dcterms:created>
  <dcterms:modified xsi:type="dcterms:W3CDTF">2025-11-09T23:18:23Z</dcterms:modified>
  <cp:category/>
</cp:coreProperties>
</file>